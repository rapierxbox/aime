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8" r:id="rId2"/>
    <p:sldId id="267" r:id="rId3"/>
    <p:sldId id="264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2"/>
    <p:restoredTop sz="94610"/>
  </p:normalViewPr>
  <p:slideViewPr>
    <p:cSldViewPr snapToGrid="0" snapToObjects="1">
      <p:cViewPr>
        <p:scale>
          <a:sx n="151" d="100"/>
          <a:sy n="151" d="100"/>
        </p:scale>
        <p:origin x="448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3188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Embedding + rerank endpoints already exist on the Go backend (ONNX/Hailo). Raw text is sent transiently; vectors stay local.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0592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C1C1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Architektur</a:t>
            </a:r>
            <a:endParaRPr lang="en-US" sz="2600" dirty="0">
              <a:latin typeface="Aptos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120640" cy="3383280"/>
          </a:xfrm>
          <a:prstGeom prst="rect">
            <a:avLst/>
          </a:prstGeom>
          <a:solidFill>
            <a:srgbClr val="F4F4F4"/>
          </a:solidFill>
          <a:ln w="12700">
            <a:solidFill>
              <a:srgbClr val="D4D4D4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94360" y="1371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B6B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Native </a:t>
            </a:r>
            <a:r>
              <a:rPr lang="en-US" sz="1000" b="1" dirty="0" err="1">
                <a:solidFill>
                  <a:srgbClr val="6B6B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Webview</a:t>
            </a:r>
            <a:r>
              <a:rPr lang="en-US" sz="1000" b="1" dirty="0">
                <a:solidFill>
                  <a:srgbClr val="6B6B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(WebKit, WebView2, </a:t>
            </a:r>
            <a:r>
              <a:rPr lang="en-US" sz="1000" b="1" dirty="0" err="1">
                <a:solidFill>
                  <a:srgbClr val="6B6B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WebKitGTK</a:t>
            </a:r>
            <a:r>
              <a:rPr lang="en-US" sz="1000" b="1" dirty="0">
                <a:solidFill>
                  <a:srgbClr val="6B6B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): React 19 + TypeScript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6217" y="1691640"/>
            <a:ext cx="1463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  <p:txBody>
          <a:bodyPr/>
          <a:lstStyle/>
          <a:p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49808" y="1783080"/>
            <a:ext cx="1243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C1C1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shad/</a:t>
            </a:r>
            <a:r>
              <a:rPr lang="en-US" sz="1200" b="1" dirty="0" err="1">
                <a:solidFill>
                  <a:srgbClr val="1C1C1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cn</a:t>
            </a:r>
            <a:r>
              <a:rPr lang="en-US" sz="1200" b="1" dirty="0">
                <a:solidFill>
                  <a:srgbClr val="1C1C1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components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063240"/>
            <a:ext cx="22860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749808" y="3154680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C1C1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Zustand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749808" y="3429000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Navigation (persisted)</a:t>
            </a:r>
            <a:endParaRPr lang="en-US" sz="10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Sync (progress)</a:t>
            </a:r>
            <a:endParaRPr lang="en-US" sz="10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Auth (stub)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063240" y="3063240"/>
            <a:ext cx="2331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3172968" y="3154680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C1C1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TanStack Query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3172968" y="3429000"/>
            <a:ext cx="211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qk.accounts</a:t>
            </a:r>
            <a:endParaRPr lang="en-US" sz="10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qk.inbox(id, account)</a:t>
            </a:r>
            <a:endParaRPr lang="en-US" sz="10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staleTime 10s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711451" y="1668780"/>
            <a:ext cx="118872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5821179" y="176022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C1C1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bindings.ts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5821179" y="2034540"/>
            <a:ext cx="9692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generated by tauri-specta</a:t>
            </a:r>
            <a:endParaRPr lang="en-US" sz="1000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sz="10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commands.*</a:t>
            </a:r>
            <a:endParaRPr lang="en-US" sz="10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Result&lt;T,E&gt;</a:t>
            </a:r>
            <a:endParaRPr lang="en-US" sz="10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Channel&lt;T&gt;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486399" y="3753132"/>
            <a:ext cx="225052" cy="2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360920" y="1280160"/>
            <a:ext cx="1325880" cy="338328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7452360" y="13716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8A8A8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RUST CORE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7452360" y="1737360"/>
            <a:ext cx="1188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6E6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EmailManager</a:t>
            </a:r>
            <a:endParaRPr lang="en-US" sz="1000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sz="10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6E6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Gmail sync</a:t>
            </a:r>
            <a:endParaRPr lang="en-US" sz="10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6E6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full / partial</a:t>
            </a:r>
            <a:endParaRPr lang="en-US" sz="1000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sz="10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000" dirty="0" err="1">
                <a:solidFill>
                  <a:srgbClr val="E6E6E6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sqlx</a:t>
            </a:r>
            <a:endParaRPr lang="en-US" sz="1000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sz="1000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 flipH="1">
            <a:off x="6900171" y="2875063"/>
            <a:ext cx="460749" cy="5298"/>
          </a:xfrm>
          <a:prstGeom prst="line">
            <a:avLst/>
          </a:prstGeom>
          <a:noFill/>
          <a:ln w="15875">
            <a:solidFill>
              <a:srgbClr val="E0592A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2" name="Shape 20">
            <a:extLst>
              <a:ext uri="{FF2B5EF4-FFF2-40B4-BE49-F238E27FC236}">
                <a16:creationId xmlns:a16="http://schemas.microsoft.com/office/drawing/2014/main" id="{E19EDF43-A522-1F80-EDD5-A4BEFED17DA2}"/>
              </a:ext>
            </a:extLst>
          </p:cNvPr>
          <p:cNvSpPr/>
          <p:nvPr/>
        </p:nvSpPr>
        <p:spPr>
          <a:xfrm>
            <a:off x="7452360" y="3576619"/>
            <a:ext cx="1139952" cy="995381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  <p:txBody>
          <a:bodyPr/>
          <a:lstStyle/>
          <a:p>
            <a:r>
              <a:rPr lang="en-US" sz="1400" b="1" dirty="0" err="1">
                <a:latin typeface="Aptos" panose="020B0004020202020204" pitchFamily="34" charset="0"/>
              </a:rPr>
              <a:t>sqlite</a:t>
            </a:r>
            <a:r>
              <a:rPr lang="en-US" sz="1400" b="1" dirty="0">
                <a:latin typeface="Aptos" panose="020B0004020202020204" pitchFamily="34" charset="0"/>
              </a:rPr>
              <a:t> </a:t>
            </a:r>
            <a:r>
              <a:rPr lang="en-US" sz="1200" dirty="0" err="1">
                <a:latin typeface="Aptos" panose="020B0004020202020204" pitchFamily="34" charset="0"/>
              </a:rPr>
              <a:t>migrationen</a:t>
            </a:r>
            <a:r>
              <a:rPr lang="en-US" sz="1200" dirty="0">
                <a:latin typeface="Aptos" panose="020B0004020202020204" pitchFamily="34" charset="0"/>
              </a:rPr>
              <a:t>+ types via </a:t>
            </a:r>
            <a:r>
              <a:rPr lang="en-US" sz="1200" dirty="0" err="1">
                <a:latin typeface="Aptos" panose="020B0004020202020204" pitchFamily="34" charset="0"/>
              </a:rPr>
              <a:t>sqlx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5A5BDC7D-9E07-B50B-7F6B-9AF928EDBCAC}"/>
              </a:ext>
            </a:extLst>
          </p:cNvPr>
          <p:cNvSpPr/>
          <p:nvPr/>
        </p:nvSpPr>
        <p:spPr>
          <a:xfrm>
            <a:off x="7635240" y="2664477"/>
            <a:ext cx="315800" cy="912141"/>
          </a:xfrm>
          <a:prstGeom prst="line">
            <a:avLst/>
          </a:prstGeom>
          <a:noFill/>
          <a:ln w="15875">
            <a:solidFill>
              <a:srgbClr val="E0592A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E4C6E56-E11D-95EB-75BD-F98CE68ACFCD}"/>
              </a:ext>
            </a:extLst>
          </p:cNvPr>
          <p:cNvSpPr txBox="1"/>
          <p:nvPr/>
        </p:nvSpPr>
        <p:spPr>
          <a:xfrm>
            <a:off x="6606890" y="2875063"/>
            <a:ext cx="8031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Aptos" panose="020B0004020202020204" pitchFamily="34" charset="0"/>
              </a:rPr>
              <a:t>Tauri IPC</a:t>
            </a:r>
          </a:p>
        </p:txBody>
      </p:sp>
      <p:sp>
        <p:nvSpPr>
          <p:cNvPr id="36" name="Shape 28">
            <a:extLst>
              <a:ext uri="{FF2B5EF4-FFF2-40B4-BE49-F238E27FC236}">
                <a16:creationId xmlns:a16="http://schemas.microsoft.com/office/drawing/2014/main" id="{4E7F2EB8-B094-925C-BC2D-97457877D56B}"/>
              </a:ext>
            </a:extLst>
          </p:cNvPr>
          <p:cNvSpPr/>
          <p:nvPr/>
        </p:nvSpPr>
        <p:spPr>
          <a:xfrm flipV="1">
            <a:off x="6881883" y="3154680"/>
            <a:ext cx="479036" cy="0"/>
          </a:xfrm>
          <a:prstGeom prst="line">
            <a:avLst/>
          </a:prstGeom>
          <a:noFill/>
          <a:ln w="15875">
            <a:solidFill>
              <a:srgbClr val="E0592A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7" name="Shape 23">
            <a:extLst>
              <a:ext uri="{FF2B5EF4-FFF2-40B4-BE49-F238E27FC236}">
                <a16:creationId xmlns:a16="http://schemas.microsoft.com/office/drawing/2014/main" id="{D97C7453-BCF3-4CA9-753E-72ABB19D117B}"/>
              </a:ext>
            </a:extLst>
          </p:cNvPr>
          <p:cNvSpPr/>
          <p:nvPr/>
        </p:nvSpPr>
        <p:spPr>
          <a:xfrm flipH="1" flipV="1">
            <a:off x="5486399" y="3411287"/>
            <a:ext cx="225050" cy="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8" name="Shape 20">
            <a:extLst>
              <a:ext uri="{FF2B5EF4-FFF2-40B4-BE49-F238E27FC236}">
                <a16:creationId xmlns:a16="http://schemas.microsoft.com/office/drawing/2014/main" id="{F6C29907-C595-BBE1-AF70-76505F62CC97}"/>
              </a:ext>
            </a:extLst>
          </p:cNvPr>
          <p:cNvSpPr/>
          <p:nvPr/>
        </p:nvSpPr>
        <p:spPr>
          <a:xfrm>
            <a:off x="7381064" y="61957"/>
            <a:ext cx="1139952" cy="995381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  <p:txBody>
          <a:bodyPr/>
          <a:lstStyle/>
          <a:p>
            <a:r>
              <a:rPr lang="en-US" sz="1400" b="1" dirty="0">
                <a:latin typeface="Aptos" panose="020B0004020202020204" pitchFamily="34" charset="0"/>
              </a:rPr>
              <a:t>Gmail API </a:t>
            </a:r>
            <a:r>
              <a:rPr lang="en-US" sz="1200" dirty="0">
                <a:latin typeface="Aptos" panose="020B0004020202020204" pitchFamily="34" charset="0"/>
              </a:rPr>
              <a:t>REST via </a:t>
            </a:r>
            <a:r>
              <a:rPr lang="en-US" sz="1200" dirty="0" err="1">
                <a:latin typeface="Aptos" panose="020B0004020202020204" pitchFamily="34" charset="0"/>
              </a:rPr>
              <a:t>generiertem</a:t>
            </a:r>
            <a:r>
              <a:rPr lang="en-US" sz="1200" dirty="0">
                <a:latin typeface="Aptos" panose="020B0004020202020204" pitchFamily="34" charset="0"/>
              </a:rPr>
              <a:t> rust client</a:t>
            </a:r>
          </a:p>
        </p:txBody>
      </p:sp>
      <p:sp>
        <p:nvSpPr>
          <p:cNvPr id="39" name="Shape 23">
            <a:extLst>
              <a:ext uri="{FF2B5EF4-FFF2-40B4-BE49-F238E27FC236}">
                <a16:creationId xmlns:a16="http://schemas.microsoft.com/office/drawing/2014/main" id="{ECB16657-8AD6-47CD-F0EE-9EB43B1B003F}"/>
              </a:ext>
            </a:extLst>
          </p:cNvPr>
          <p:cNvSpPr/>
          <p:nvPr/>
        </p:nvSpPr>
        <p:spPr>
          <a:xfrm>
            <a:off x="7889730" y="1097280"/>
            <a:ext cx="2" cy="182867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0" name="Shape 23">
            <a:extLst>
              <a:ext uri="{FF2B5EF4-FFF2-40B4-BE49-F238E27FC236}">
                <a16:creationId xmlns:a16="http://schemas.microsoft.com/office/drawing/2014/main" id="{2559D5D8-02C2-A76E-C660-0768E30527A9}"/>
              </a:ext>
            </a:extLst>
          </p:cNvPr>
          <p:cNvSpPr/>
          <p:nvPr/>
        </p:nvSpPr>
        <p:spPr>
          <a:xfrm flipH="1" flipV="1">
            <a:off x="8318570" y="1057337"/>
            <a:ext cx="0" cy="222811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F7C5343-C202-4F78-8357-6E820550F965}"/>
              </a:ext>
            </a:extLst>
          </p:cNvPr>
          <p:cNvGrpSpPr/>
          <p:nvPr/>
        </p:nvGrpSpPr>
        <p:grpSpPr>
          <a:xfrm>
            <a:off x="3931920" y="1686343"/>
            <a:ext cx="1463040" cy="1188720"/>
            <a:chOff x="2240280" y="1691640"/>
            <a:chExt cx="1463040" cy="1188720"/>
          </a:xfrm>
        </p:grpSpPr>
        <p:sp>
          <p:nvSpPr>
            <p:cNvPr id="10" name="Shape 8"/>
            <p:cNvSpPr/>
            <p:nvPr/>
          </p:nvSpPr>
          <p:spPr>
            <a:xfrm>
              <a:off x="2240280" y="1691640"/>
              <a:ext cx="1463040" cy="11887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4D4D4"/>
              </a:solidFill>
              <a:prstDash val="solid"/>
            </a:ln>
          </p:spPr>
          <p:txBody>
            <a:bodyPr/>
            <a:lstStyle/>
            <a:p>
              <a:endParaRPr lang="en-US">
                <a:latin typeface="Aptos" panose="020B0004020202020204" pitchFamily="34" charset="0"/>
              </a:endParaRPr>
            </a:p>
          </p:txBody>
        </p:sp>
        <p:sp>
          <p:nvSpPr>
            <p:cNvPr id="11" name="Text 9"/>
            <p:cNvSpPr txBox="1"/>
            <p:nvPr/>
          </p:nvSpPr>
          <p:spPr>
            <a:xfrm>
              <a:off x="2350008" y="1783080"/>
              <a:ext cx="124358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C1C1C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Pane </a:t>
              </a:r>
              <a:r>
                <a:rPr lang="en-US" sz="1200" b="1" dirty="0" err="1">
                  <a:solidFill>
                    <a:srgbClr val="1C1C1C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Rechts</a:t>
              </a:r>
              <a:endParaRPr lang="en-US" sz="1200" dirty="0">
                <a:latin typeface="Aptos" panose="020B0004020202020204" pitchFamily="34" charset="0"/>
              </a:endParaRPr>
            </a:p>
          </p:txBody>
        </p:sp>
        <p:sp>
          <p:nvSpPr>
            <p:cNvPr id="42" name="Text 7">
              <a:extLst>
                <a:ext uri="{FF2B5EF4-FFF2-40B4-BE49-F238E27FC236}">
                  <a16:creationId xmlns:a16="http://schemas.microsoft.com/office/drawing/2014/main" id="{C53784DA-2CEA-63CF-F17F-BF0C3E8A78C5}"/>
                </a:ext>
              </a:extLst>
            </p:cNvPr>
            <p:cNvSpPr txBox="1"/>
            <p:nvPr/>
          </p:nvSpPr>
          <p:spPr>
            <a:xfrm>
              <a:off x="2350008" y="2011680"/>
              <a:ext cx="1243584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B6B6B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Email View (</a:t>
              </a:r>
              <a:r>
                <a:rPr lang="en-US" sz="1000" dirty="0" err="1">
                  <a:solidFill>
                    <a:srgbClr val="6B6B6B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dompurify</a:t>
              </a:r>
              <a:r>
                <a:rPr lang="en-US" sz="1000" dirty="0">
                  <a:solidFill>
                    <a:srgbClr val="6B6B6B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)</a:t>
              </a:r>
            </a:p>
            <a:p>
              <a:pPr marL="0" indent="0">
                <a:buNone/>
              </a:pPr>
              <a:r>
                <a:rPr lang="en-US" sz="1000" dirty="0" err="1">
                  <a:solidFill>
                    <a:srgbClr val="6B6B6B"/>
                  </a:solidFill>
                  <a:latin typeface="Aptos" panose="020B0004020202020204" pitchFamily="34" charset="0"/>
                  <a:cs typeface="Calibri" pitchFamily="34" charset="-120"/>
                </a:rPr>
                <a:t>Später</a:t>
              </a:r>
              <a:r>
                <a:rPr lang="en-US" sz="1000" dirty="0">
                  <a:solidFill>
                    <a:srgbClr val="6B6B6B"/>
                  </a:solidFill>
                  <a:latin typeface="Aptos" panose="020B0004020202020204" pitchFamily="34" charset="0"/>
                  <a:cs typeface="Calibri" pitchFamily="34" charset="-120"/>
                </a:rPr>
                <a:t>: AI Chat</a:t>
              </a:r>
              <a:endParaRPr lang="en-US" sz="1000" dirty="0">
                <a:latin typeface="Aptos" panose="020B0004020202020204" pitchFamily="3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1058061-33AF-DA65-B446-1DA09526AD6F}"/>
              </a:ext>
            </a:extLst>
          </p:cNvPr>
          <p:cNvGrpSpPr/>
          <p:nvPr/>
        </p:nvGrpSpPr>
        <p:grpSpPr>
          <a:xfrm>
            <a:off x="2261575" y="1686343"/>
            <a:ext cx="1554480" cy="1188720"/>
            <a:chOff x="3840480" y="1691640"/>
            <a:chExt cx="1554480" cy="1188720"/>
          </a:xfrm>
        </p:grpSpPr>
        <p:sp>
          <p:nvSpPr>
            <p:cNvPr id="15" name="Shape 11">
              <a:extLst>
                <a:ext uri="{FF2B5EF4-FFF2-40B4-BE49-F238E27FC236}">
                  <a16:creationId xmlns:a16="http://schemas.microsoft.com/office/drawing/2014/main" id="{89F3997A-3565-25DE-2AE5-56E73440D115}"/>
                </a:ext>
              </a:extLst>
            </p:cNvPr>
            <p:cNvSpPr/>
            <p:nvPr/>
          </p:nvSpPr>
          <p:spPr>
            <a:xfrm>
              <a:off x="3840480" y="1691640"/>
              <a:ext cx="1554480" cy="11887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4D4D4"/>
              </a:solidFill>
              <a:prstDash val="solid"/>
            </a:ln>
          </p:spPr>
          <p:txBody>
            <a:bodyPr/>
            <a:lstStyle/>
            <a:p>
              <a:endParaRPr lang="en-US">
                <a:latin typeface="Aptos" panose="020B0004020202020204" pitchFamily="34" charset="0"/>
              </a:endParaRPr>
            </a:p>
          </p:txBody>
        </p:sp>
        <p:sp>
          <p:nvSpPr>
            <p:cNvPr id="26" name="Text 12">
              <a:extLst>
                <a:ext uri="{FF2B5EF4-FFF2-40B4-BE49-F238E27FC236}">
                  <a16:creationId xmlns:a16="http://schemas.microsoft.com/office/drawing/2014/main" id="{2B77475A-FE4C-973E-67E4-6A68C65A4C95}"/>
                </a:ext>
              </a:extLst>
            </p:cNvPr>
            <p:cNvSpPr txBox="1"/>
            <p:nvPr/>
          </p:nvSpPr>
          <p:spPr>
            <a:xfrm>
              <a:off x="3950208" y="1783080"/>
              <a:ext cx="133502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C1C1C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Pane Links</a:t>
              </a:r>
              <a:endParaRPr lang="en-US" sz="1200" dirty="0">
                <a:latin typeface="Aptos" panose="020B0004020202020204" pitchFamily="34" charset="0"/>
              </a:endParaRPr>
            </a:p>
          </p:txBody>
        </p:sp>
        <p:sp>
          <p:nvSpPr>
            <p:cNvPr id="31" name="Text 10">
              <a:extLst>
                <a:ext uri="{FF2B5EF4-FFF2-40B4-BE49-F238E27FC236}">
                  <a16:creationId xmlns:a16="http://schemas.microsoft.com/office/drawing/2014/main" id="{9B715A61-15C1-5024-3FF6-D22618F0408E}"/>
                </a:ext>
              </a:extLst>
            </p:cNvPr>
            <p:cNvSpPr txBox="1"/>
            <p:nvPr/>
          </p:nvSpPr>
          <p:spPr>
            <a:xfrm>
              <a:off x="3942838" y="2011680"/>
              <a:ext cx="1243584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B6B6B"/>
                  </a:solidFill>
                  <a:latin typeface="Aptos" panose="020B0004020202020204" pitchFamily="34" charset="0"/>
                  <a:cs typeface="Calibri" pitchFamily="34" charset="-120"/>
                </a:rPr>
                <a:t>Email </a:t>
              </a:r>
              <a:r>
                <a:rPr lang="en-US" sz="1000" dirty="0" err="1">
                  <a:solidFill>
                    <a:srgbClr val="6B6B6B"/>
                  </a:solidFill>
                  <a:latin typeface="Aptos" panose="020B0004020202020204" pitchFamily="34" charset="0"/>
                  <a:cs typeface="Calibri" pitchFamily="34" charset="-120"/>
                </a:rPr>
                <a:t>Liste</a:t>
              </a:r>
              <a:r>
                <a:rPr lang="en-US" sz="1000" dirty="0">
                  <a:solidFill>
                    <a:srgbClr val="6B6B6B"/>
                  </a:solidFill>
                  <a:latin typeface="Aptos" panose="020B0004020202020204" pitchFamily="34" charset="0"/>
                  <a:cs typeface="Calibri" pitchFamily="34" charset="-120"/>
                </a:rPr>
                <a:t>, Sidebar</a:t>
              </a:r>
              <a:endParaRPr lang="en-US" sz="1000" dirty="0">
                <a:latin typeface="Aptos" panose="020B00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572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000" b="1" kern="0" spc="200" dirty="0">
                <a:solidFill>
                  <a:srgbClr val="E05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2600" b="1" dirty="0" err="1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Sync</a:t>
            </a:r>
            <a:r>
              <a:rPr lang="de-DE" sz="2600" b="1" dirty="0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mit Gmail</a:t>
            </a:r>
          </a:p>
        </p:txBody>
      </p:sp>
      <p:sp>
        <p:nvSpPr>
          <p:cNvPr id="5" name="Shape 5"/>
          <p:cNvSpPr/>
          <p:nvPr/>
        </p:nvSpPr>
        <p:spPr>
          <a:xfrm>
            <a:off x="457200" y="1142999"/>
            <a:ext cx="2560320" cy="1965957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6"/>
          <p:cNvSpPr txBox="1"/>
          <p:nvPr/>
        </p:nvSpPr>
        <p:spPr>
          <a:xfrm>
            <a:off x="566928" y="123444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200" b="1" dirty="0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Frontend: SyncStore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566928" y="1527047"/>
            <a:ext cx="2340864" cy="1581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100" dirty="0">
                <a:solidFill>
                  <a:srgbClr val="6B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sync(accountId)</a:t>
            </a:r>
          </a:p>
          <a:p>
            <a:pPr marL="0" indent="0">
              <a:buNone/>
            </a:pPr>
            <a:endParaRPr lang="de-DE" sz="1100" dirty="0">
              <a:solidFill>
                <a:srgbClr val="6B6B6B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de-DE" sz="1100" dirty="0" err="1">
                <a:solidFill>
                  <a:srgbClr val="6B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r>
              <a:rPr lang="de-DE" sz="1100" dirty="0">
                <a:solidFill>
                  <a:srgbClr val="6B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Channel&lt;Progress&gt;()</a:t>
            </a:r>
          </a:p>
          <a:p>
            <a:pPr marL="0" indent="0">
              <a:buNone/>
            </a:pPr>
            <a:endParaRPr lang="de-DE" sz="1100" dirty="0">
              <a:solidFill>
                <a:srgbClr val="6B6B6B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de-DE" sz="1100" dirty="0">
                <a:solidFill>
                  <a:srgbClr val="6B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onmessage → Fortschritt + Status</a:t>
            </a:r>
          </a:p>
          <a:p>
            <a:pPr marL="0" indent="0">
              <a:buNone/>
            </a:pPr>
            <a:endParaRPr lang="de-DE" sz="1100" dirty="0">
              <a:solidFill>
                <a:srgbClr val="6B6B6B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de-DE" sz="1100" dirty="0" err="1">
                <a:solidFill>
                  <a:srgbClr val="6B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App.tsx</a:t>
            </a:r>
            <a:r>
              <a:rPr lang="de-DE" sz="1100" dirty="0">
                <a:solidFill>
                  <a:srgbClr val="6B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de-DE" sz="1100" dirty="0" err="1">
                <a:solidFill>
                  <a:srgbClr val="6B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subscribes</a:t>
            </a:r>
            <a:r>
              <a:rPr lang="de-DE" sz="1100" dirty="0">
                <a:solidFill>
                  <a:srgbClr val="6B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auf globales </a:t>
            </a:r>
            <a:r>
              <a:rPr lang="de-DE" sz="1100" dirty="0" err="1">
                <a:solidFill>
                  <a:srgbClr val="6B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invalidate</a:t>
            </a:r>
            <a:r>
              <a:rPr lang="de-DE" sz="1100" dirty="0">
                <a:solidFill>
                  <a:srgbClr val="6B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-event</a:t>
            </a:r>
          </a:p>
          <a:p>
            <a:pPr marL="0" indent="0">
              <a:buNone/>
            </a:pPr>
            <a:r>
              <a:rPr lang="de-DE" sz="1100" dirty="0">
                <a:solidFill>
                  <a:srgbClr val="6B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queryClient.invalidateQueries</a:t>
            </a:r>
          </a:p>
        </p:txBody>
      </p:sp>
      <p:sp>
        <p:nvSpPr>
          <p:cNvPr id="8" name="Shape 8"/>
          <p:cNvSpPr/>
          <p:nvPr/>
        </p:nvSpPr>
        <p:spPr>
          <a:xfrm>
            <a:off x="6126480" y="1143000"/>
            <a:ext cx="2560320" cy="18745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9"/>
          <p:cNvSpPr txBox="1"/>
          <p:nvPr/>
        </p:nvSpPr>
        <p:spPr>
          <a:xfrm>
            <a:off x="6236208" y="123444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Rust: email_sync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6236208" y="1527048"/>
            <a:ext cx="23408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100" dirty="0">
                <a:solidFill>
                  <a:srgbClr val="BDB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GmailClient::sync(chan)</a:t>
            </a:r>
          </a:p>
          <a:p>
            <a:pPr marL="0" indent="0">
              <a:buNone/>
            </a:pPr>
            <a:r>
              <a:rPr lang="de-DE" sz="1100" dirty="0">
                <a:solidFill>
                  <a:srgbClr val="BDB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Fortschritt über den Channel</a:t>
            </a:r>
          </a:p>
          <a:p>
            <a:pPr marL="0" indent="0">
              <a:buNone/>
            </a:pPr>
            <a:r>
              <a:rPr lang="de-DE" sz="1100" dirty="0">
                <a:solidFill>
                  <a:srgbClr val="BDB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sammelt Vec&lt;InvalidateEvent&gt;</a:t>
            </a:r>
          </a:p>
          <a:p>
            <a:pPr marL="0" indent="0">
              <a:buNone/>
            </a:pPr>
            <a:r>
              <a:rPr lang="de-DE" sz="1100" dirty="0">
                <a:solidFill>
                  <a:srgbClr val="BDB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emit_invalidations(&amp;app, events)</a:t>
            </a:r>
          </a:p>
          <a:p>
            <a:pPr marL="0" indent="0">
              <a:buNone/>
            </a:pPr>
            <a:r>
              <a:rPr lang="de-DE" sz="1100" dirty="0">
                <a:solidFill>
                  <a:srgbClr val="BDB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gibt Result zurück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3108960" y="13075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DE" sz="10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emailSync(id, </a:t>
            </a:r>
            <a:r>
              <a:rPr lang="de-DE" sz="1000" dirty="0" err="1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</a:t>
            </a:r>
            <a:r>
              <a:rPr lang="de-DE" sz="10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</p:txBody>
      </p:sp>
      <p:cxnSp>
        <p:nvCxnSpPr>
          <p:cNvPr id="12" name="Arrow 12"/>
          <p:cNvCxnSpPr/>
          <p:nvPr/>
        </p:nvCxnSpPr>
        <p:spPr>
          <a:xfrm>
            <a:off x="3108960" y="1554480"/>
            <a:ext cx="2926080" cy="0"/>
          </a:xfrm>
          <a:prstGeom prst="straightConnector1">
            <a:avLst/>
          </a:prstGeom>
          <a:ln w="12700">
            <a:solidFill>
              <a:srgbClr val="1C1C1C"/>
            </a:solidFill>
            <a:prstDash val="solid"/>
            <a:tailEnd type="triangle" w="med" len="med"/>
          </a:ln>
        </p:spPr>
      </p:cxnSp>
      <p:sp>
        <p:nvSpPr>
          <p:cNvPr id="13" name="Text 13"/>
          <p:cNvSpPr txBox="1"/>
          <p:nvPr/>
        </p:nvSpPr>
        <p:spPr>
          <a:xfrm>
            <a:off x="3108960" y="171907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DE" sz="10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 Channel&lt;Progress&gt; (Stream)</a:t>
            </a:r>
          </a:p>
        </p:txBody>
      </p:sp>
      <p:cxnSp>
        <p:nvCxnSpPr>
          <p:cNvPr id="14" name="Arrow 14"/>
          <p:cNvCxnSpPr/>
          <p:nvPr/>
        </p:nvCxnSpPr>
        <p:spPr>
          <a:xfrm flipH="1">
            <a:off x="3108960" y="1965960"/>
            <a:ext cx="2926080" cy="0"/>
          </a:xfrm>
          <a:prstGeom prst="straightConnector1">
            <a:avLst/>
          </a:prstGeom>
          <a:ln w="12700">
            <a:solidFill>
              <a:srgbClr val="6B6B6B"/>
            </a:solidFill>
            <a:prstDash val="dash"/>
            <a:tailEnd type="triangle" w="med" len="med"/>
          </a:ln>
        </p:spPr>
      </p:cxnSp>
      <p:sp>
        <p:nvSpPr>
          <p:cNvPr id="15" name="Text 15"/>
          <p:cNvSpPr txBox="1"/>
          <p:nvPr/>
        </p:nvSpPr>
        <p:spPr>
          <a:xfrm>
            <a:off x="3108960" y="21305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DE" sz="1000" dirty="0">
                <a:solidFill>
                  <a:srgbClr val="E059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 invalidate-event (emit)</a:t>
            </a:r>
          </a:p>
        </p:txBody>
      </p:sp>
      <p:cxnSp>
        <p:nvCxnSpPr>
          <p:cNvPr id="16" name="Arrow 16"/>
          <p:cNvCxnSpPr/>
          <p:nvPr/>
        </p:nvCxnSpPr>
        <p:spPr>
          <a:xfrm flipH="1">
            <a:off x="3108960" y="2377440"/>
            <a:ext cx="2926080" cy="0"/>
          </a:xfrm>
          <a:prstGeom prst="straightConnector1">
            <a:avLst/>
          </a:prstGeom>
          <a:ln w="12700">
            <a:solidFill>
              <a:srgbClr val="E0592A"/>
            </a:solidFill>
            <a:prstDash val="solid"/>
            <a:tailEnd type="triangle" w="med" len="med"/>
          </a:ln>
        </p:spPr>
      </p:cxnSp>
      <p:sp>
        <p:nvSpPr>
          <p:cNvPr id="17" name="Text 17"/>
          <p:cNvSpPr txBox="1"/>
          <p:nvPr/>
        </p:nvSpPr>
        <p:spPr>
          <a:xfrm>
            <a:off x="3108960" y="25420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DE" sz="10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 Result&lt;(), AppError&gt;</a:t>
            </a:r>
          </a:p>
        </p:txBody>
      </p:sp>
      <p:cxnSp>
        <p:nvCxnSpPr>
          <p:cNvPr id="18" name="Arrow 18"/>
          <p:cNvCxnSpPr/>
          <p:nvPr/>
        </p:nvCxnSpPr>
        <p:spPr>
          <a:xfrm flipH="1">
            <a:off x="3108960" y="2788920"/>
            <a:ext cx="2926080" cy="0"/>
          </a:xfrm>
          <a:prstGeom prst="straightConnector1">
            <a:avLst/>
          </a:prstGeom>
          <a:ln w="12700">
            <a:solidFill>
              <a:srgbClr val="1C1C1C"/>
            </a:solidFill>
            <a:prstDash val="solid"/>
            <a:tailEnd type="triangle" w="med" len="med"/>
          </a:ln>
        </p:spPr>
      </p:cxnSp>
      <p:sp>
        <p:nvSpPr>
          <p:cNvPr id="19" name="Shape 19"/>
          <p:cNvSpPr/>
          <p:nvPr/>
        </p:nvSpPr>
        <p:spPr>
          <a:xfrm>
            <a:off x="457200" y="3291840"/>
            <a:ext cx="155448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20"/>
          <p:cNvSpPr txBox="1"/>
          <p:nvPr/>
        </p:nvSpPr>
        <p:spPr>
          <a:xfrm>
            <a:off x="548640" y="334670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100" b="1" dirty="0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Labels</a:t>
            </a:r>
          </a:p>
          <a:p>
            <a:pPr marL="0" indent="0">
              <a:buNone/>
            </a:pPr>
            <a:r>
              <a:rPr lang="de-DE" sz="900" dirty="0">
                <a:solidFill>
                  <a:srgbClr val="6B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labels.list → SQLite</a:t>
            </a:r>
          </a:p>
        </p:txBody>
      </p:sp>
      <p:sp>
        <p:nvSpPr>
          <p:cNvPr id="21" name="Shape 21"/>
          <p:cNvSpPr/>
          <p:nvPr/>
        </p:nvSpPr>
        <p:spPr>
          <a:xfrm>
            <a:off x="2682240" y="3291840"/>
            <a:ext cx="155448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2"/>
          <p:cNvSpPr txBox="1"/>
          <p:nvPr/>
        </p:nvSpPr>
        <p:spPr>
          <a:xfrm>
            <a:off x="2773680" y="334670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100" b="1" dirty="0" err="1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history_id</a:t>
            </a:r>
            <a:r>
              <a:rPr lang="de-DE" sz="1100" b="1" dirty="0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</a:p>
          <a:p>
            <a:pPr marL="0" indent="0">
              <a:buNone/>
            </a:pPr>
            <a:r>
              <a:rPr lang="de-DE" sz="900" dirty="0">
                <a:solidFill>
                  <a:srgbClr val="6B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aus AccountConfig</a:t>
            </a:r>
          </a:p>
        </p:txBody>
      </p:sp>
      <p:sp>
        <p:nvSpPr>
          <p:cNvPr id="23" name="Shape 23"/>
          <p:cNvSpPr/>
          <p:nvPr/>
        </p:nvSpPr>
        <p:spPr>
          <a:xfrm>
            <a:off x="4907280" y="3291840"/>
            <a:ext cx="155448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4"/>
          <p:cNvSpPr txBox="1"/>
          <p:nvPr/>
        </p:nvSpPr>
        <p:spPr>
          <a:xfrm>
            <a:off x="4998720" y="334670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100" b="1" dirty="0" err="1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partial_sync</a:t>
            </a:r>
            <a:endParaRPr lang="de-DE" sz="1100" b="1" dirty="0">
              <a:solidFill>
                <a:srgbClr val="1C1C1C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de-DE" sz="900" dirty="0">
                <a:solidFill>
                  <a:srgbClr val="6B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history.list ab LastSynced</a:t>
            </a:r>
          </a:p>
        </p:txBody>
      </p:sp>
      <p:sp>
        <p:nvSpPr>
          <p:cNvPr id="25" name="Shape 25"/>
          <p:cNvSpPr/>
          <p:nvPr/>
        </p:nvSpPr>
        <p:spPr>
          <a:xfrm>
            <a:off x="4907280" y="4023360"/>
            <a:ext cx="1554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59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6"/>
          <p:cNvSpPr txBox="1"/>
          <p:nvPr/>
        </p:nvSpPr>
        <p:spPr>
          <a:xfrm>
            <a:off x="4998720" y="407822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100" b="1" dirty="0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full_sync</a:t>
            </a:r>
          </a:p>
          <a:p>
            <a:pPr marL="0" indent="0">
              <a:buNone/>
            </a:pPr>
            <a:r>
              <a:rPr lang="de-DE" sz="900" dirty="0">
                <a:solidFill>
                  <a:srgbClr val="6B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 + Hydrate-Loop</a:t>
            </a:r>
          </a:p>
        </p:txBody>
      </p:sp>
      <p:sp>
        <p:nvSpPr>
          <p:cNvPr id="27" name="Shape 27"/>
          <p:cNvSpPr/>
          <p:nvPr/>
        </p:nvSpPr>
        <p:spPr>
          <a:xfrm>
            <a:off x="7132320" y="3291839"/>
            <a:ext cx="1554480" cy="617209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/>
          <a:lstStyle/>
          <a:p>
            <a:endParaRPr lang="de-DE" sz="1050" dirty="0">
              <a:solidFill>
                <a:schemeClr val="bg2">
                  <a:lumMod val="90000"/>
                </a:schemeClr>
              </a:solidFill>
              <a:latin typeface="Aptos" panose="020B0004020202020204" pitchFamily="34" charset="0"/>
            </a:endParaRPr>
          </a:p>
          <a:p>
            <a:endParaRPr lang="de-DE" sz="1050" dirty="0">
              <a:solidFill>
                <a:schemeClr val="bg2">
                  <a:lumMod val="90000"/>
                </a:schemeClr>
              </a:solidFill>
              <a:latin typeface="Aptos" panose="020B0004020202020204" pitchFamily="34" charset="0"/>
            </a:endParaRPr>
          </a:p>
          <a:p>
            <a:r>
              <a:rPr lang="de-DE" sz="1050" dirty="0">
                <a:solidFill>
                  <a:schemeClr val="bg2">
                    <a:lumMod val="90000"/>
                  </a:schemeClr>
                </a:solidFill>
                <a:latin typeface="Aptos" panose="020B0004020202020204" pitchFamily="34" charset="0"/>
              </a:rPr>
              <a:t>Emit als globale Events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7165848" y="3434023"/>
            <a:ext cx="1520952" cy="332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Vec&lt;</a:t>
            </a:r>
            <a:r>
              <a:rPr lang="de-DE" sz="1100" b="1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InvalidateEvent</a:t>
            </a:r>
            <a:r>
              <a:rPr lang="de-DE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</a:p>
        </p:txBody>
      </p:sp>
      <p:cxnSp>
        <p:nvCxnSpPr>
          <p:cNvPr id="29" name="Arrow 29"/>
          <p:cNvCxnSpPr/>
          <p:nvPr/>
        </p:nvCxnSpPr>
        <p:spPr>
          <a:xfrm>
            <a:off x="2011680" y="3543300"/>
            <a:ext cx="670560" cy="0"/>
          </a:xfrm>
          <a:prstGeom prst="straightConnector1">
            <a:avLst/>
          </a:prstGeom>
          <a:ln w="12700">
            <a:solidFill>
              <a:srgbClr val="6B6B6B"/>
            </a:solidFill>
            <a:prstDash val="solid"/>
            <a:tailEnd type="triangle" w="med" len="med"/>
          </a:ln>
        </p:spPr>
      </p:cxnSp>
      <p:cxnSp>
        <p:nvCxnSpPr>
          <p:cNvPr id="30" name="Arrow 30"/>
          <p:cNvCxnSpPr/>
          <p:nvPr/>
        </p:nvCxnSpPr>
        <p:spPr>
          <a:xfrm>
            <a:off x="4236720" y="3543300"/>
            <a:ext cx="670560" cy="0"/>
          </a:xfrm>
          <a:prstGeom prst="straightConnector1">
            <a:avLst/>
          </a:prstGeom>
          <a:ln w="12700">
            <a:solidFill>
              <a:srgbClr val="6B6B6B"/>
            </a:solidFill>
            <a:prstDash val="solid"/>
            <a:tailEnd type="triangle" w="med" len="med"/>
          </a:ln>
        </p:spPr>
      </p:cxnSp>
      <p:sp>
        <p:nvSpPr>
          <p:cNvPr id="31" name="Text 31"/>
          <p:cNvSpPr txBox="1"/>
          <p:nvPr/>
        </p:nvSpPr>
        <p:spPr>
          <a:xfrm>
            <a:off x="4236720" y="3342132"/>
            <a:ext cx="67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DE" sz="900" dirty="0">
                <a:solidFill>
                  <a:srgbClr val="6B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LastSynced</a:t>
            </a:r>
          </a:p>
        </p:txBody>
      </p:sp>
      <p:cxnSp>
        <p:nvCxnSpPr>
          <p:cNvPr id="32" name="Arrow 32"/>
          <p:cNvCxnSpPr/>
          <p:nvPr/>
        </p:nvCxnSpPr>
        <p:spPr>
          <a:xfrm>
            <a:off x="6461760" y="3543300"/>
            <a:ext cx="670560" cy="0"/>
          </a:xfrm>
          <a:prstGeom prst="straightConnector1">
            <a:avLst/>
          </a:prstGeom>
          <a:ln w="12700">
            <a:solidFill>
              <a:srgbClr val="6B6B6B"/>
            </a:solidFill>
            <a:prstDash val="solid"/>
            <a:tailEnd type="triangle" w="med" len="med"/>
          </a:ln>
        </p:spPr>
      </p:cxnSp>
      <p:sp>
        <p:nvSpPr>
          <p:cNvPr id="33" name="Text 33"/>
          <p:cNvSpPr txBox="1"/>
          <p:nvPr/>
        </p:nvSpPr>
        <p:spPr>
          <a:xfrm>
            <a:off x="6461760" y="3342132"/>
            <a:ext cx="67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DE" sz="900" dirty="0">
                <a:solidFill>
                  <a:srgbClr val="6B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</a:t>
            </a:r>
          </a:p>
        </p:txBody>
      </p:sp>
      <p:cxnSp>
        <p:nvCxnSpPr>
          <p:cNvPr id="34" name="Arrow 34"/>
          <p:cNvCxnSpPr/>
          <p:nvPr/>
        </p:nvCxnSpPr>
        <p:spPr>
          <a:xfrm>
            <a:off x="5684520" y="3794760"/>
            <a:ext cx="0" cy="228600"/>
          </a:xfrm>
          <a:prstGeom prst="straightConnector1">
            <a:avLst/>
          </a:prstGeom>
          <a:ln w="12700">
            <a:solidFill>
              <a:srgbClr val="E0592A"/>
            </a:solidFill>
            <a:prstDash val="solid"/>
            <a:tailEnd type="triangle" w="med" len="med"/>
          </a:ln>
        </p:spPr>
      </p:cxnSp>
      <p:sp>
        <p:nvSpPr>
          <p:cNvPr id="35" name="Text 35"/>
          <p:cNvSpPr txBox="1"/>
          <p:nvPr/>
        </p:nvSpPr>
        <p:spPr>
          <a:xfrm>
            <a:off x="5757672" y="384048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900" b="1" dirty="0">
                <a:solidFill>
                  <a:srgbClr val="E05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Fehler</a:t>
            </a:r>
          </a:p>
        </p:txBody>
      </p:sp>
      <p:cxnSp>
        <p:nvCxnSpPr>
          <p:cNvPr id="36" name="Arrow 36"/>
          <p:cNvCxnSpPr/>
          <p:nvPr/>
        </p:nvCxnSpPr>
        <p:spPr>
          <a:xfrm>
            <a:off x="4236720" y="3794760"/>
            <a:ext cx="670560" cy="480060"/>
          </a:xfrm>
          <a:prstGeom prst="straightConnector1">
            <a:avLst/>
          </a:prstGeom>
          <a:ln w="12700">
            <a:solidFill>
              <a:srgbClr val="6B6B6B"/>
            </a:solidFill>
            <a:prstDash val="solid"/>
            <a:tailEnd type="triangle" w="med" len="med"/>
          </a:ln>
        </p:spPr>
      </p:cxnSp>
      <p:sp>
        <p:nvSpPr>
          <p:cNvPr id="37" name="Text 37"/>
          <p:cNvSpPr txBox="1"/>
          <p:nvPr/>
        </p:nvSpPr>
        <p:spPr>
          <a:xfrm>
            <a:off x="3642360" y="406908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de-DE" sz="900" dirty="0">
                <a:solidFill>
                  <a:srgbClr val="6B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KnownStale</a:t>
            </a:r>
          </a:p>
        </p:txBody>
      </p:sp>
      <p:cxnSp>
        <p:nvCxnSpPr>
          <p:cNvPr id="38" name="Arrow 38"/>
          <p:cNvCxnSpPr/>
          <p:nvPr/>
        </p:nvCxnSpPr>
        <p:spPr>
          <a:xfrm flipV="1">
            <a:off x="6461760" y="3794760"/>
            <a:ext cx="670560" cy="480060"/>
          </a:xfrm>
          <a:prstGeom prst="straightConnector1">
            <a:avLst/>
          </a:prstGeom>
          <a:ln w="12700">
            <a:solidFill>
              <a:srgbClr val="6B6B6B"/>
            </a:solidFill>
            <a:prstDash val="solid"/>
            <a:tailEnd type="triangle" w="med" len="med"/>
          </a:ln>
        </p:spPr>
      </p:cxnSp>
      <p:cxnSp>
        <p:nvCxnSpPr>
          <p:cNvPr id="39" name="Arrow 38">
            <a:extLst>
              <a:ext uri="{FF2B5EF4-FFF2-40B4-BE49-F238E27FC236}">
                <a16:creationId xmlns:a16="http://schemas.microsoft.com/office/drawing/2014/main" id="{9BF45FBC-2C3A-B05A-E416-EF30B7EB6100}"/>
              </a:ext>
            </a:extLst>
          </p:cNvPr>
          <p:cNvCxnSpPr>
            <a:cxnSpLocks/>
          </p:cNvCxnSpPr>
          <p:nvPr/>
        </p:nvCxnSpPr>
        <p:spPr>
          <a:xfrm>
            <a:off x="6462688" y="3774186"/>
            <a:ext cx="669630" cy="404623"/>
          </a:xfrm>
          <a:prstGeom prst="straightConnector1">
            <a:avLst/>
          </a:prstGeom>
          <a:ln w="12700">
            <a:solidFill>
              <a:srgbClr val="6B6B6B"/>
            </a:solidFill>
            <a:prstDash val="solid"/>
            <a:tailEnd type="triangle" w="med" len="med"/>
          </a:ln>
        </p:spPr>
      </p:cxn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9E71AD8-C71B-9BF0-455A-D55C26D6EC3A}"/>
              </a:ext>
            </a:extLst>
          </p:cNvPr>
          <p:cNvGrpSpPr/>
          <p:nvPr/>
        </p:nvGrpSpPr>
        <p:grpSpPr>
          <a:xfrm>
            <a:off x="7132319" y="4183367"/>
            <a:ext cx="1554480" cy="502920"/>
            <a:chOff x="7132319" y="4183367"/>
            <a:chExt cx="1554480" cy="502920"/>
          </a:xfrm>
          <a:solidFill>
            <a:schemeClr val="bg1">
              <a:lumMod val="95000"/>
            </a:schemeClr>
          </a:solidFill>
        </p:grpSpPr>
        <p:sp>
          <p:nvSpPr>
            <p:cNvPr id="42" name="Shape 23">
              <a:extLst>
                <a:ext uri="{FF2B5EF4-FFF2-40B4-BE49-F238E27FC236}">
                  <a16:creationId xmlns:a16="http://schemas.microsoft.com/office/drawing/2014/main" id="{9B04ADDF-6B23-3C4C-13D5-962873F26694}"/>
                </a:ext>
              </a:extLst>
            </p:cNvPr>
            <p:cNvSpPr/>
            <p:nvPr/>
          </p:nvSpPr>
          <p:spPr>
            <a:xfrm>
              <a:off x="7132319" y="4183367"/>
              <a:ext cx="1554480" cy="50292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ot"/>
            </a:ln>
          </p:spPr>
          <p:txBody>
            <a:bodyPr/>
            <a:lstStyle/>
            <a:p>
              <a:endParaRPr lang="de-DE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43" name="Text 24">
              <a:extLst>
                <a:ext uri="{FF2B5EF4-FFF2-40B4-BE49-F238E27FC236}">
                  <a16:creationId xmlns:a16="http://schemas.microsoft.com/office/drawing/2014/main" id="{279ECD80-0777-AC70-77A1-AF6499D4BADF}"/>
                </a:ext>
              </a:extLst>
            </p:cNvPr>
            <p:cNvSpPr txBox="1"/>
            <p:nvPr/>
          </p:nvSpPr>
          <p:spPr>
            <a:xfrm>
              <a:off x="7165848" y="4229087"/>
              <a:ext cx="1371600" cy="411480"/>
            </a:xfrm>
            <a:prstGeom prst="rect">
              <a:avLst/>
            </a:prstGeom>
            <a:noFill/>
            <a:ln>
              <a:noFill/>
              <a:prstDash val="sysDot"/>
            </a:ln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de-DE" sz="1100" b="1" dirty="0" err="1">
                  <a:solidFill>
                    <a:srgbClr val="1C1C1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embeddings</a:t>
              </a:r>
              <a:r>
                <a:rPr lang="de-DE" sz="1100" b="1" dirty="0">
                  <a:solidFill>
                    <a:srgbClr val="1C1C1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 updaten</a:t>
              </a:r>
            </a:p>
            <a:p>
              <a:pPr marL="0" indent="0">
                <a:buNone/>
              </a:pPr>
              <a:endParaRPr lang="de-DE" sz="900" dirty="0">
                <a:solidFill>
                  <a:srgbClr val="6B6B6B"/>
                </a:solidFill>
                <a:latin typeface="Aptos" pitchFamily="34" charset="0"/>
                <a:ea typeface="Aptos" pitchFamily="34" charset="-122"/>
                <a:cs typeface="Aptos" pitchFamily="34" charset="-120"/>
              </a:endParaRPr>
            </a:p>
          </p:txBody>
        </p:sp>
      </p:grpSp>
      <p:cxnSp>
        <p:nvCxnSpPr>
          <p:cNvPr id="46" name="Arrow 38">
            <a:extLst>
              <a:ext uri="{FF2B5EF4-FFF2-40B4-BE49-F238E27FC236}">
                <a16:creationId xmlns:a16="http://schemas.microsoft.com/office/drawing/2014/main" id="{8994F706-9A0C-1EB7-1DD4-2F417561CA07}"/>
              </a:ext>
            </a:extLst>
          </p:cNvPr>
          <p:cNvCxnSpPr>
            <a:cxnSpLocks/>
          </p:cNvCxnSpPr>
          <p:nvPr/>
        </p:nvCxnSpPr>
        <p:spPr>
          <a:xfrm>
            <a:off x="6445925" y="4270247"/>
            <a:ext cx="686393" cy="7995"/>
          </a:xfrm>
          <a:prstGeom prst="straightConnector1">
            <a:avLst/>
          </a:prstGeom>
          <a:ln w="12700">
            <a:solidFill>
              <a:srgbClr val="6B6B6B"/>
            </a:solidFill>
            <a:prstDash val="soli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4076965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57200" y="2971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latin typeface="Aptos" panose="020B0004020202020204" pitchFamily="34" charset="0"/>
              </a:rPr>
              <a:t>Semantic Search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1234440" cy="12115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01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423160"/>
            <a:ext cx="1014984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text_query:”</a:t>
            </a:r>
            <a:r>
              <a:rPr lang="en-US" sz="1000" dirty="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Rechnung</a:t>
            </a: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von </a:t>
            </a:r>
            <a:r>
              <a:rPr lang="en-US" sz="1000" dirty="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letztem</a:t>
            </a: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Februar”l</a:t>
            </a: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</a:p>
          <a:p>
            <a:pPr marL="0" indent="0">
              <a:buNone/>
            </a:pPr>
            <a:r>
              <a:rPr lang="en-US" sz="1000" dirty="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date_range</a:t>
            </a: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</a:p>
        </p:txBody>
      </p:sp>
      <p:sp>
        <p:nvSpPr>
          <p:cNvPr id="8" name="Shape 6"/>
          <p:cNvSpPr/>
          <p:nvPr/>
        </p:nvSpPr>
        <p:spPr>
          <a:xfrm>
            <a:off x="2011680" y="1280160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2121408" y="137160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(</a:t>
            </a:r>
            <a:r>
              <a:rPr lang="en-US" sz="1200" b="1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direkte</a:t>
            </a: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Suche</a:t>
            </a: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121408" y="164592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FTS5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subject, from, body =&gt; top 50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11680" y="2697480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2121408" y="278892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(Vector </a:t>
            </a:r>
            <a:r>
              <a:rPr lang="en-US" sz="1200" b="1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Suche</a:t>
            </a: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121408" y="306324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embed(query) via backend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in </a:t>
            </a:r>
            <a:r>
              <a:rPr lang="en-US" sz="1000" dirty="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sqlite-vec</a:t>
            </a: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=&gt; top 50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 flipV="1">
            <a:off x="1691640" y="1783080"/>
            <a:ext cx="320040" cy="54864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691640" y="2606040"/>
            <a:ext cx="320040" cy="54864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023360" y="1783080"/>
            <a:ext cx="949162" cy="36576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 flipV="1">
            <a:off x="4023359" y="2697480"/>
            <a:ext cx="949161" cy="45720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972522" y="1920240"/>
            <a:ext cx="1371600" cy="100584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5082250" y="201168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281382" y="1879384"/>
            <a:ext cx="9720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7391110" y="2057400"/>
            <a:ext cx="8384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Ergebnisse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44122" y="2423160"/>
            <a:ext cx="937260" cy="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3">
            <a:extLst>
              <a:ext uri="{FF2B5EF4-FFF2-40B4-BE49-F238E27FC236}">
                <a16:creationId xmlns:a16="http://schemas.microsoft.com/office/drawing/2014/main" id="{7D0C4F8F-0475-EF5A-F224-1958E1B155D4}"/>
              </a:ext>
            </a:extLst>
          </p:cNvPr>
          <p:cNvSpPr/>
          <p:nvPr/>
        </p:nvSpPr>
        <p:spPr>
          <a:xfrm>
            <a:off x="2268853" y="4091940"/>
            <a:ext cx="319548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  <p:txBody>
          <a:bodyPr/>
          <a:lstStyle/>
          <a:p>
            <a:r>
              <a:rPr lang="en-US" b="1" dirty="0"/>
              <a:t>Agent/User</a:t>
            </a:r>
          </a:p>
        </p:txBody>
      </p:sp>
      <p:sp>
        <p:nvSpPr>
          <p:cNvPr id="34" name="Shape 18">
            <a:extLst>
              <a:ext uri="{FF2B5EF4-FFF2-40B4-BE49-F238E27FC236}">
                <a16:creationId xmlns:a16="http://schemas.microsoft.com/office/drawing/2014/main" id="{1B977480-5CEE-09D2-2939-5D310D00CDEC}"/>
              </a:ext>
            </a:extLst>
          </p:cNvPr>
          <p:cNvSpPr/>
          <p:nvPr/>
        </p:nvSpPr>
        <p:spPr>
          <a:xfrm flipH="1" flipV="1">
            <a:off x="1034411" y="3268980"/>
            <a:ext cx="1234440" cy="82296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Shape 18">
            <a:extLst>
              <a:ext uri="{FF2B5EF4-FFF2-40B4-BE49-F238E27FC236}">
                <a16:creationId xmlns:a16="http://schemas.microsoft.com/office/drawing/2014/main" id="{F8948E0F-ADCC-2C8E-1485-0C140D4B168D}"/>
              </a:ext>
            </a:extLst>
          </p:cNvPr>
          <p:cNvSpPr/>
          <p:nvPr/>
        </p:nvSpPr>
        <p:spPr>
          <a:xfrm flipH="1">
            <a:off x="5464338" y="2885223"/>
            <a:ext cx="2212012" cy="1206679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847</TotalTime>
  <Words>318</Words>
  <Application>Microsoft Macintosh PowerPoint</Application>
  <PresentationFormat>On-screen Show (16:9)</PresentationFormat>
  <Paragraphs>89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AIME Architecture</dc:title>
  <dc:subject>PptxGenJS Presentation</dc:subject>
  <dc:creator>PptxGenJS</dc:creator>
  <cp:lastModifiedBy>Linus Göldner</cp:lastModifiedBy>
  <cp:revision>11</cp:revision>
  <dcterms:created xsi:type="dcterms:W3CDTF">2026-09-17T17:51:45Z</dcterms:created>
  <dcterms:modified xsi:type="dcterms:W3CDTF">2026-09-18T12:03:07Z</dcterms:modified>
</cp:coreProperties>
</file>